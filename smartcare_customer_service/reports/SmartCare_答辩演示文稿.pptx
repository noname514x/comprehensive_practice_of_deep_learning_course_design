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355080"/>
            <a:ext cx="1106424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A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SmartCare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FABBC"/>
                </a:solidFill>
                <a:latin typeface="Microsoft YaHei"/>
              </a:defRPr>
            </a:pPr>
            <a:r>
              <a:t>端到端智能客服系统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BBBBB"/>
                </a:solidFill>
                <a:latin typeface="Microsoft YaHei"/>
              </a:defRPr>
            </a:pPr>
            <a:r>
              <a:t>题目 8：端到端智能客服系统  ·  电商耳机售后客服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4114800"/>
            <a:ext cx="3931920" cy="27432"/>
          </a:xfrm>
          <a:prstGeom prst="rect">
            <a:avLst/>
          </a:prstGeom>
          <a:solidFill>
            <a:srgbClr val="0FA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成员 A  ·  成员 B  ·  成员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355080"/>
            <a:ext cx="1106424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54864" cy="457200"/>
          </a:xfrm>
          <a:prstGeom prst="rect">
            <a:avLst/>
          </a:prstGeom>
          <a:solidFill>
            <a:srgbClr val="0FA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选题背景与目标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Microsoft YaHei"/>
              </a:defRPr>
            </a:pPr>
            <a:r>
              <a:t>SmartCare 端到端智能客服系统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097280"/>
            <a:ext cx="512064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课程覆盖点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RAG 检索增强生成 · Prompt Engineering · Function Calling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4650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Agent 智能路由 · Memory 多轮记忆 · 系统评估与消融实验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12064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88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项目目标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做一个可运行、可演示、可评估的电商耳机售后智能客服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4650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无需 GPU，自建数据，本地稳定演示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68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客服系统需同时完成问答、查订单、建工单、转人工和情绪安抚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自建知识库（7 文件，32 条 FAQ）+ 模拟订单数据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规则驱动意图识别 + Function Calling 工具调用 + SQLite Memory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Web 三栏界面，前端可查看路由决策、工具 JSON、RAG 引用来源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355080"/>
            <a:ext cx="1106424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54864" cy="457200"/>
          </a:xfrm>
          <a:prstGeom prst="rect">
            <a:avLst/>
          </a:prstGeom>
          <a:solidFill>
            <a:srgbClr val="0FA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用户场景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Microsoft YaHei"/>
              </a:defRPr>
            </a:pPr>
            <a:r>
              <a:t>SmartCare 端到端智能客服系统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188720"/>
            <a:ext cx="512064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80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🔍 查物流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"订单号 2024060112345 到哪了？"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3794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→ 意图：order_status → query_order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88720"/>
            <a:ext cx="512064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80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🔄 退换货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"XX 耳机左耳没声音，我想换货"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3794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→ 意图：return_exchange → create_ticket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23160"/>
            <a:ext cx="512064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514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💡 产品问答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83464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"XX 耳机防水吗？能戴着游泳吗？"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07238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→ 意图：product_inquiry → RAG 检索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423160"/>
            <a:ext cx="512064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514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⚖️ 产品对比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83464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"XX 和 YY 有什么区别？"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07238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→ 意图：product_inquiry → compare_products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3657600"/>
            <a:ext cx="512064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3749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😠 情绪投诉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06908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"你们这什么破服务，我要投诉！"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30682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→ 情绪：angry → transfer_human (high)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355080"/>
            <a:ext cx="1106424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54864" cy="457200"/>
          </a:xfrm>
          <a:prstGeom prst="rect">
            <a:avLst/>
          </a:prstGeom>
          <a:solidFill>
            <a:srgbClr val="0FA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Microsoft YaHei"/>
              </a:defRPr>
            </a:pPr>
            <a:r>
              <a:t>SmartCare 端到端智能客服系统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280160"/>
            <a:ext cx="54864" cy="822960"/>
          </a:xfrm>
          <a:prstGeom prst="rect">
            <a:avLst/>
          </a:prstGeom>
          <a:solidFill>
            <a:srgbClr val="0FA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325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ABBC"/>
                </a:solidFill>
                <a:latin typeface="Microsoft YaHei"/>
              </a:defRPr>
            </a:pPr>
            <a:r>
              <a:t>🖥️ Web 界面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91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三栏布局：演示场景 | 聊天窗口 | 路由/工具/引用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77440"/>
            <a:ext cx="54864" cy="822960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23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254A"/>
                </a:solidFill>
                <a:latin typeface="Microsoft YaHei"/>
              </a:defRPr>
            </a:pPr>
            <a:r>
              <a:t>🔗 HTTP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Python http.server，入口 app.py，核心 SmartCareBot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74720"/>
            <a:ext cx="54864" cy="822960"/>
          </a:xfrm>
          <a:prstGeom prst="rect">
            <a:avLst/>
          </a:prstGeom>
          <a:solidFill>
            <a:srgbClr val="0A8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204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8A96"/>
                </a:solidFill>
                <a:latin typeface="Microsoft YaHei"/>
              </a:defRPr>
            </a:pPr>
            <a:r>
              <a:t>🧠 SmartCareBot 编排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86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意图识别 → RAG / 工具 / Memory → 回复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572000"/>
            <a:ext cx="54864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617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💾 数据层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83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知识库 Markdown + 模拟订单 JSON + SQLite 持久化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28016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  <a:latin typeface="Microsoft YaHei"/>
              </a:defRPr>
            </a:pPr>
            <a:r>
              <a:t>用户消息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  <a:latin typeface="Microsoft YaHei"/>
              </a:defRPr>
            </a:pPr>
            <a:r>
              <a:t>   ↓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  <a:latin typeface="Microsoft YaHei"/>
              </a:defRPr>
            </a:pPr>
            <a:r>
              <a:t>意图识别 + 情绪检测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  <a:latin typeface="Microsoft YaHei"/>
              </a:defRPr>
            </a:pPr>
            <a:r>
              <a:t>   ↓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  <a:latin typeface="Microsoft YaHei"/>
              </a:defRPr>
            </a:pPr>
            <a:r>
              <a:t>路由决策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  <a:latin typeface="Microsoft YaHei"/>
              </a:defRPr>
            </a:pPr>
            <a:r>
              <a:t>   ↓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  <a:latin typeface="Microsoft YaHei"/>
              </a:defRPr>
            </a:pPr>
            <a:r>
              <a:t>工具 / RAG / Memory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  <a:latin typeface="Microsoft YaHei"/>
              </a:defRPr>
            </a:pPr>
            <a:r>
              <a:t>   ↓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  <a:latin typeface="Microsoft YaHei"/>
              </a:defRPr>
            </a:pPr>
            <a:r>
              <a:t>生成回复 + 引用来源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355080"/>
            <a:ext cx="1106424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54864" cy="457200"/>
          </a:xfrm>
          <a:prstGeom prst="rect">
            <a:avLst/>
          </a:prstGeom>
          <a:solidFill>
            <a:srgbClr val="0FA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知识库构建与 RAG 检索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Microsoft YaHei"/>
              </a:defRPr>
            </a:pPr>
            <a:r>
              <a:t>SmartCare 端到端智能客服系统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097280"/>
            <a:ext cx="5120640" cy="1280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7 个 Markdown 文件：32 条 FAQ、3 款耳机说明、售后政策、物流政策、客服流程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4650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文档切分：按标题 + 空行分段，长段落滑动窗口切分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8424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每个知识块保留来源文件和章节信息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5120640" cy="1280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TF-IDF 检索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中文分词：单字/二元词/三元词 + 英文数字 token 混合提取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4650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余弦相似度计算 → Top-3 相关片段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8424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Top-3 拼接 prompt → 带引用来源的回答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7432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选 TF-IDF 原因：零依赖、零网络、完全可解释、本地稳定演示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引用示例：「XX 耳机支持 IPX4 防水，防汗防小雨，不建议游泳」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来源：faq.md § FAQ-12 (score: 0.87) + product_xx_airbuds.md § 防水说明 (score: 0.82)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前端右侧面板实时展示 RAG 引用来源、章节和相似度分数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355080"/>
            <a:ext cx="1106424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54864" cy="457200"/>
          </a:xfrm>
          <a:prstGeom prst="rect">
            <a:avLst/>
          </a:prstGeom>
          <a:solidFill>
            <a:srgbClr val="0FA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意图识别设计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Microsoft YaHei"/>
              </a:defRPr>
            </a:pPr>
            <a:r>
              <a:t>SmartCare 端到端智能客服系统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八类意图：订单查询 | 退换货 | 产品咨询 | 保修 | 投诉 | 闲聊 | 转人工 | 兜底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512064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槽位抽取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订单号：正则匹配 pattern（支持多种格式）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9514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售后动作：退货 / 退款 / 换货 / 维修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产品名：别名归一化表（含简写、昵称映射）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12064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为什么用规则？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稳定可控：每个判断有明确依据，适合课程演示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9514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可解释：答辩追问时能清晰说明逻辑链路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3288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改进方向：LLM 结构化输出、多意图拆解、错别字容忍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004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前置处理：别名归一化 → 关键词匹配 → 正则抽取 → 置信度计算 → 路由决策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355080"/>
            <a:ext cx="1106424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54864" cy="457200"/>
          </a:xfrm>
          <a:prstGeom prst="rect">
            <a:avLst/>
          </a:prstGeom>
          <a:solidFill>
            <a:srgbClr val="0FA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Agent 路由与情绪兜底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Microsoft YaHei"/>
              </a:defRPr>
            </a:pPr>
            <a:r>
              <a:t>SmartCare 端到端智能客服系统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路由策略（按场景选择路径，非所有问题都交给生成模型）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737360"/>
            <a:ext cx="137160" cy="137160"/>
          </a:xfrm>
          <a:prstGeom prst="ellipse">
            <a:avLst/>
          </a:prstGeom>
          <a:solidFill>
            <a:srgbClr val="0FA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645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订单查询  → query_order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286000"/>
            <a:ext cx="137160" cy="137160"/>
          </a:xfrm>
          <a:prstGeom prst="ellipse">
            <a:avLst/>
          </a:prstGeom>
          <a:solidFill>
            <a:srgbClr val="0A8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194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退换货  → create_ticket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834640"/>
            <a:ext cx="137160" cy="137160"/>
          </a:xfrm>
          <a:prstGeom prst="ellipse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743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产品咨询 / 保修 / 闲聊  → RAG 知识库检索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2918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投诉 / 要求转人工  → transfer_human（高优先级）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931920"/>
            <a:ext cx="137160" cy="13716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840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低置信度（ambiguous）  → 引导补充信息或转人工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572000"/>
            <a:ext cx="54864" cy="9692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" y="4572000"/>
            <a:ext cx="10460736" cy="969264"/>
          </a:xfrm>
          <a:prstGeom prst="rect">
            <a:avLst/>
          </a:prstGeom>
          <a:solidFill>
            <a:srgbClr val="FFF0F0"/>
          </a:solidFill>
          <a:ln w="6350">
            <a:solidFill>
              <a:srgbClr val="FF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645152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94560"/>
                </a:solidFill>
                <a:latin typeface="Microsoft YaHei"/>
              </a:defRPr>
            </a:pPr>
            <a:r>
              <a:t>🛡️ 情绪识别与安全兜底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95604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检测 angry 关键词 → 触发道歉共情模板 → 高优先级 transfer_human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18464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设计理念：客服系统不能对愤怒用户继续机械追问，安全策略优先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355080"/>
            <a:ext cx="1106424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54864" cy="457200"/>
          </a:xfrm>
          <a:prstGeom prst="rect">
            <a:avLst/>
          </a:prstGeom>
          <a:solidFill>
            <a:srgbClr val="0FA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Function Calling 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Microsoft YaHei"/>
              </a:defRPr>
            </a:pPr>
            <a:r>
              <a:t>SmartCare 端到端智能客服系统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097280"/>
            <a:ext cx="594360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📦 query_order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功能：查询订单物流状态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4650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触发：订单查询意图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874520"/>
            <a:ext cx="594360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🎫 create_ticket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86000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功能：创建售后工单（退货/换货/维修）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52374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触发：退换货意图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51760"/>
            <a:ext cx="594360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7432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👤 transfer_human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063240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功能：转人工客服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30098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触发：投诉 / 主动要求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29000"/>
            <a:ext cx="594360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5204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⚖️ compare_products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40480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功能：对比产品参数（价格/防水/续航/场景）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07822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触发：产品对比意图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109728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Microsoft YaHei"/>
              </a:defRPr>
            </a:pPr>
            <a:r>
              <a:t>示例：create_ticket 调用</a:t>
            </a: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Microsoft YaHei"/>
              </a:defRPr>
            </a:pPr>
            <a:r>
              <a:t>用户：「订单 2024060112345 的 XX</a:t>
            </a: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Microsoft YaHei"/>
              </a:defRPr>
            </a:pPr>
            <a:r>
              <a:t>  耳机左耳没声音，我想换货」</a:t>
            </a: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Microsoft YaHei"/>
              </a:defRPr>
            </a:pPr>
            <a:r>
              <a:t>→ 意图: return_exchange</a:t>
            </a: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Microsoft YaHei"/>
              </a:defRPr>
            </a:pPr>
            <a:r>
              <a:t>→ 槽位: order_id=2024060112345</a:t>
            </a: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Microsoft YaHei"/>
              </a:defRPr>
            </a:pPr>
            <a:r>
              <a:t>         action=换货</a:t>
            </a: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Microsoft YaHei"/>
              </a:defRPr>
            </a:pPr>
            <a:r>
              <a:t>→ create_ticket({</a:t>
            </a: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Microsoft YaHei"/>
              </a:defRPr>
            </a:pPr>
            <a:r>
              <a:t>    "order_id": "2024060...",</a:t>
            </a: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Microsoft YaHei"/>
              </a:defRPr>
            </a:pPr>
            <a:r>
              <a:t>    "action": "exchange",</a:t>
            </a: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Microsoft YaHei"/>
              </a:defRPr>
            </a:pPr>
            <a:r>
              <a:t>    "reason": "左耳无声"</a:t>
            </a: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Microsoft YaHei"/>
              </a:defRPr>
            </a:pPr>
            <a:r>
              <a:t>  })</a:t>
            </a: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Microsoft YaHei"/>
              </a:defRPr>
            </a:pPr>
            <a:r>
              <a:t>→ 工单 #TK-0003 已创建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355080"/>
            <a:ext cx="1106424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54864" cy="457200"/>
          </a:xfrm>
          <a:prstGeom prst="rect">
            <a:avLst/>
          </a:prstGeom>
          <a:solidFill>
            <a:srgbClr val="0FA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Memory 多轮记忆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Microsoft YaHei"/>
              </a:defRPr>
            </a:pPr>
            <a:r>
              <a:t>SmartCare 端到端智能客服系统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097280"/>
            <a:ext cx="640080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SQLite 持久化（三张表）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messages：历史消息（role, content, timestamp）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46504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session_state：会话上下文（last_order_id, last_product, pending_intent, last_issue, preferred_action）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84248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tickets：工单记录（order_id, action, reason, status）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ABBC"/>
                </a:solidFill>
                <a:latin typeface="Microsoft YaHei"/>
              </a:defRPr>
            </a:pPr>
            <a:r>
              <a:t>多轮对话实例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004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第 1 轮  用户：「查一下订单 2024060112345」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           系统：识别为订单查询 → query_order → 返回物流信息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           写入 session_state: last_order_id = 2024060112345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第 2 轮  用户：「那我想换一个吧」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           系统：缺少明确意图 → 读取 session_state.last_order_id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           沿用上下文 → 自动创建换货工单 → 回复确认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937760"/>
            <a:ext cx="640080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0292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设计优势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34924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不依赖 LLM 记忆能力，用结构化状态保证多轮可靠性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586984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会话状态自动更新和清理，支持跨轮次上下文延续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355080"/>
            <a:ext cx="1106424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54864" cy="457200"/>
          </a:xfrm>
          <a:prstGeom prst="rect">
            <a:avLst/>
          </a:prstGeom>
          <a:solidFill>
            <a:srgbClr val="0FA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Web 界面设计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Microsoft YaHei"/>
              </a:defRPr>
            </a:pPr>
            <a:r>
              <a:t>SmartCare 端到端智能客服系统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三栏布局 — 让老师同时看到"用户体验"和"系统内部决策"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3474720" cy="1280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📋 左侧栏：演示场景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48840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预设场景按钮（一键填充消息）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8658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运行统计（路由次数、工具调用次数）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79" y="1737360"/>
            <a:ext cx="3474720" cy="1280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828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💬 中间栏：聊天窗口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148840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客服对话流 + 消息气泡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38658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输入框 + 发送按钮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18" y="1737360"/>
            <a:ext cx="3474720" cy="1280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198" y="1828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🔧 右侧栏：决策面板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8" y="2148840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本轮意图与路由路径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198" y="238658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工具调用 JSON 全文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198" y="26243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RAG 引用来源 + 章节 + 分数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383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纯 HTML/CSS/JavaScript 前端，无需框架，零依赖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工程完整性：SQLite 持久化、模块化代码（app.py + smartcare_bot.py + tools/）、README 规范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设计理念：客服系统可解释性 → 前端直接暴露系统内部决策，便于答辩演示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355080"/>
            <a:ext cx="1106424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54864" cy="457200"/>
          </a:xfrm>
          <a:prstGeom prst="rect">
            <a:avLst/>
          </a:prstGeom>
          <a:solidFill>
            <a:srgbClr val="0FA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功能演示（一）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Microsoft YaHei"/>
              </a:defRPr>
            </a:pPr>
            <a:r>
              <a:t>SmartCare 端到端智能客服系统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097280"/>
            <a:ext cx="10515600" cy="117957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1. 查物流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149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输入：订单号 2024060112345 到哪了？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46504"/>
            <a:ext cx="10149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意图：order_status → query_order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84248"/>
            <a:ext cx="10149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返回：商品名、承运方、物流单号、预计送达时间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88920"/>
            <a:ext cx="10515600" cy="1435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8036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2. 知识库问答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00400"/>
            <a:ext cx="10149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输入：XX 耳机防水吗？能戴着游泳吗？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38144"/>
            <a:ext cx="10149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意图：product_inquiry → RAG 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75888"/>
            <a:ext cx="10149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回答：XX 支持 IPX4，防汗防小雨，不建议游泳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13632"/>
            <a:ext cx="10149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来源：faq.md + product_xx_airbuds.md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480560"/>
            <a:ext cx="10515600" cy="117957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7200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3. 退换货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892040"/>
            <a:ext cx="10149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输入：订单 2024060112345 的 XX 耳机左耳没声音，我想换货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129784"/>
            <a:ext cx="10149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意图：return_exchange → create_ticket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367528"/>
            <a:ext cx="10149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工单：#TK-0003，换货，左耳无声 → 客服会联系您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355080"/>
            <a:ext cx="1106424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54864" cy="457200"/>
          </a:xfrm>
          <a:prstGeom prst="rect">
            <a:avLst/>
          </a:prstGeom>
          <a:solidFill>
            <a:srgbClr val="0FA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功能演示（二）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Microsoft YaHei"/>
              </a:defRPr>
            </a:pPr>
            <a:r>
              <a:t>SmartCare 端到端智能客服系统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097280"/>
            <a:ext cx="10515600" cy="117957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4. 产品对比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149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输入：XX 和 YY 有什么区别？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46504"/>
            <a:ext cx="10149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意图：product_inquiry → compare_products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84248"/>
            <a:ext cx="10149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四维对比：价格、防水等级、续航、适用场景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88920"/>
            <a:ext cx="10515600" cy="117957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8036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ABBC"/>
                </a:solidFill>
                <a:latin typeface="Microsoft YaHei"/>
              </a:defRPr>
            </a:pPr>
            <a:r>
              <a:t>5. 情绪投诉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00400"/>
            <a:ext cx="10149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输入：你们这什么破服务，再不处理我就投诉了！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38144"/>
            <a:ext cx="10149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情绪检测：angry → 触发道歉共情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75888"/>
            <a:ext cx="10149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路由：transfer_human（优先级 high）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54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每个场景都展示右侧面板的路由决策和工具调用，体现系统可解释性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演示入口：python3 app.py --port 8000  →  http://127.0.0.1:8000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355080"/>
            <a:ext cx="1106424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54864" cy="457200"/>
          </a:xfrm>
          <a:prstGeom prst="rect">
            <a:avLst/>
          </a:prstGeom>
          <a:solidFill>
            <a:srgbClr val="0FA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实验评估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Microsoft YaHei"/>
              </a:defRPr>
            </a:pPr>
            <a:r>
              <a:t>SmartCare 端到端智能客服系统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058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20 条测试对话评估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63040"/>
            <a:ext cx="338328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意图识别准确率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FABBC"/>
                </a:solidFill>
                <a:latin typeface="Microsoft YaHei"/>
              </a:defRPr>
            </a:pPr>
            <a:r>
              <a:t>100.0%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63040"/>
            <a:ext cx="338328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361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工具调用正确率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874519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8A96"/>
                </a:solidFill>
                <a:latin typeface="Microsoft YaHei"/>
              </a:defRPr>
            </a:pPr>
            <a:r>
              <a:t>100.0%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63040"/>
            <a:ext cx="338328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361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RAG 引用命中率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874519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5254A"/>
                </a:solidFill>
                <a:latin typeface="Microsoft YaHei"/>
              </a:defRPr>
            </a:pPr>
            <a:r>
              <a:t>100.0%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560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9 个场景、20 条对话  ·  python3 run_evaluation.py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926080"/>
            <a:ext cx="54864" cy="14813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" y="2926080"/>
            <a:ext cx="10460736" cy="1481328"/>
          </a:xfrm>
          <a:prstGeom prst="rect">
            <a:avLst/>
          </a:prstGeom>
          <a:solidFill>
            <a:srgbClr val="FFF0F0"/>
          </a:solidFill>
          <a:ln w="6350">
            <a:solidFill>
              <a:srgbClr val="FF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999232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94560"/>
                </a:solidFill>
                <a:latin typeface="Microsoft YaHei"/>
              </a:defRPr>
            </a:pPr>
            <a:r>
              <a:t>⚠️ 坦诚解读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3101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100% = 系统在自建封闭测试集上功能完备，逻辑链路闭合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5387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不代表开放场景泛化：规则意图 → 对表达方式敏感，自建测试集 → 天然偏向设计场景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7673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真实场景预期：错别字/口语/多意图混合会使准确率显著下降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9959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RAG 命中率定义 =「检索结果非空即命中」，门槛偏低，不反映检索质量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00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RAG Top-K 消融实验（8 个标注问题）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12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2D2D"/>
                </a:solidFill>
                <a:latin typeface="Microsoft YaHei"/>
              </a:defRPr>
            </a:pPr>
            <a:r>
              <a:t>Top-1 命中率：87.5%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212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ABBC"/>
                </a:solidFill>
                <a:latin typeface="Microsoft YaHei"/>
              </a:defRPr>
            </a:pPr>
            <a:r>
              <a:t>Top-3 命中率：100.0% 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212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2D2D"/>
                </a:solidFill>
                <a:latin typeface="Microsoft YaHei"/>
              </a:defRPr>
            </a:pPr>
            <a:r>
              <a:t>Top-5 命中率：100.0%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623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选择 Top-3：比 Top-1 更稳，比 Top-5 更精简  |  有 RAG vs 无 RAG：每个回答可追溯来源，客服可信度远超模板回答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355080"/>
            <a:ext cx="1106424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54864" cy="457200"/>
          </a:xfrm>
          <a:prstGeom prst="rect">
            <a:avLst/>
          </a:prstGeom>
          <a:solidFill>
            <a:srgbClr val="0FA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总结与未来改进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Microsoft YaHei"/>
              </a:defRPr>
            </a:pPr>
            <a:r>
              <a:t>SmartCare 端到端智能客服系统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项目完成度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✅  Web 聊天界面（三栏布局，可解释性强）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019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✅  RAG 知识库问答（TF-IDF + Top-3 + 引用来源）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942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✅  意图识别 + Agent 路由（八类意图，规则驱动）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✅  Function Calling（4 个业务工具）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554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✅  多轮 Memory（SQLite 持久化状态）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9019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✅  情绪识别 + 安全兜底策略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24942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✅  20 条测试评估 + RAG 消融实验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004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94560"/>
                </a:solidFill>
                <a:latin typeface="Microsoft YaHei"/>
              </a:defRPr>
            </a:pPr>
            <a:r>
              <a:t>未来改进方向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57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→ BGE 中文向量 + ChromaDB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9136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替换 TF-IDF，提升语义召回和错别字容忍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→ Qwen2.5 JSON 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5079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结构化意图识别，处理多意图和口语表达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46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→ 真实接口 + 管理后台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1023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接入真实订单/工单接口，增加管理员面板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